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3" r:id="rId14"/>
    <p:sldId id="262" r:id="rId13"/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1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FLOOD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AACDE6"/>
                </a:solidFill>
              </a:defRPr>
            </a:pPr>
            <a:r>
              <a:t>Satellite Imagery Analysis with NDVI &amp; NDWI in 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3657600" cy="4526280"/>
          </a:xfrm>
          <a:prstGeom prst="roundRect">
            <a:avLst/>
          </a:prstGeom>
          <a:solidFill>
            <a:srgbClr val="142840"/>
          </a:solidFill>
          <a:ln>
            <a:solidFill>
              <a:srgbClr val="37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04088" y="1600200"/>
            <a:ext cx="3255264" cy="3474720"/>
          </a:xfrm>
          <a:prstGeom prst="rect">
            <a:avLst/>
          </a:prstGeom>
          <a:solidFill>
            <a:srgbClr val="689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57400" y="1600200"/>
            <a:ext cx="658368" cy="3474720"/>
          </a:xfrm>
          <a:prstGeom prst="rect">
            <a:avLst/>
          </a:prstGeom>
          <a:solidFill>
            <a:srgbClr val="418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04088" y="2011680"/>
            <a:ext cx="3255264" cy="64008"/>
          </a:xfrm>
          <a:prstGeom prst="rect">
            <a:avLst/>
          </a:prstGeom>
          <a:solidFill>
            <a:srgbClr val="3C6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04088" y="2743200"/>
            <a:ext cx="3255264" cy="64008"/>
          </a:xfrm>
          <a:prstGeom prst="rect">
            <a:avLst/>
          </a:prstGeom>
          <a:solidFill>
            <a:srgbClr val="3C6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4088" y="3474720"/>
            <a:ext cx="3255264" cy="64008"/>
          </a:xfrm>
          <a:prstGeom prst="rect">
            <a:avLst/>
          </a:prstGeom>
          <a:solidFill>
            <a:srgbClr val="3C6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4088" y="4206240"/>
            <a:ext cx="3255264" cy="64008"/>
          </a:xfrm>
          <a:prstGeom prst="rect">
            <a:avLst/>
          </a:prstGeom>
          <a:solidFill>
            <a:srgbClr val="3C6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5230368"/>
            <a:ext cx="325526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Pre Flood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325880"/>
            <a:ext cx="3657600" cy="4526280"/>
          </a:xfrm>
          <a:prstGeom prst="roundRect">
            <a:avLst/>
          </a:prstGeom>
          <a:solidFill>
            <a:srgbClr val="142840"/>
          </a:solidFill>
          <a:ln>
            <a:solidFill>
              <a:srgbClr val="37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44568" y="1600200"/>
            <a:ext cx="3255264" cy="3474720"/>
          </a:xfrm>
          <a:prstGeom prst="rect">
            <a:avLst/>
          </a:prstGeom>
          <a:solidFill>
            <a:srgbClr val="3E7C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18888" y="1920240"/>
            <a:ext cx="1097280" cy="502920"/>
          </a:xfrm>
          <a:prstGeom prst="roundRect">
            <a:avLst/>
          </a:prstGeom>
          <a:solidFill>
            <a:srgbClr val="749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64808" y="2103120"/>
            <a:ext cx="1005840" cy="640080"/>
          </a:xfrm>
          <a:prstGeom prst="roundRect">
            <a:avLst/>
          </a:prstGeom>
          <a:solidFill>
            <a:srgbClr val="749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230368" y="3154680"/>
            <a:ext cx="914400" cy="457200"/>
          </a:xfrm>
          <a:prstGeom prst="roundRect">
            <a:avLst/>
          </a:prstGeom>
          <a:solidFill>
            <a:srgbClr val="749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784848" y="3703320"/>
            <a:ext cx="731520" cy="594360"/>
          </a:xfrm>
          <a:prstGeom prst="roundRect">
            <a:avLst/>
          </a:prstGeom>
          <a:solidFill>
            <a:srgbClr val="749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773168" y="4160520"/>
            <a:ext cx="1005840" cy="502920"/>
          </a:xfrm>
          <a:prstGeom prst="roundRect">
            <a:avLst/>
          </a:prstGeom>
          <a:solidFill>
            <a:srgbClr val="749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44568" y="5230368"/>
            <a:ext cx="325526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Post Flood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79" y="1325880"/>
            <a:ext cx="3657600" cy="4526280"/>
          </a:xfrm>
          <a:prstGeom prst="roundRect">
            <a:avLst/>
          </a:prstGeom>
          <a:solidFill>
            <a:srgbClr val="142840"/>
          </a:solidFill>
          <a:ln>
            <a:solidFill>
              <a:srgbClr val="375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85048" y="1600200"/>
            <a:ext cx="3255264" cy="3474720"/>
          </a:xfrm>
          <a:prstGeom prst="rect">
            <a:avLst/>
          </a:prstGeom>
          <a:solidFill>
            <a:srgbClr val="E4E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42248" y="1600200"/>
            <a:ext cx="10972" cy="3474720"/>
          </a:xfrm>
          <a:prstGeom prst="rect">
            <a:avLst/>
          </a:prstGeom>
          <a:solidFill>
            <a:srgbClr val="B9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99448" y="1600200"/>
            <a:ext cx="10972" cy="3474720"/>
          </a:xfrm>
          <a:prstGeom prst="rect">
            <a:avLst/>
          </a:prstGeom>
          <a:solidFill>
            <a:srgbClr val="B9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56648" y="1600200"/>
            <a:ext cx="10972" cy="3474720"/>
          </a:xfrm>
          <a:prstGeom prst="rect">
            <a:avLst/>
          </a:prstGeom>
          <a:solidFill>
            <a:srgbClr val="B9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213848" y="1600200"/>
            <a:ext cx="10972" cy="3474720"/>
          </a:xfrm>
          <a:prstGeom prst="rect">
            <a:avLst/>
          </a:prstGeom>
          <a:solidFill>
            <a:srgbClr val="B9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671048" y="1600200"/>
            <a:ext cx="10972" cy="3474720"/>
          </a:xfrm>
          <a:prstGeom prst="rect">
            <a:avLst/>
          </a:prstGeom>
          <a:solidFill>
            <a:srgbClr val="B9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28248" y="1600200"/>
            <a:ext cx="10972" cy="3474720"/>
          </a:xfrm>
          <a:prstGeom prst="rect">
            <a:avLst/>
          </a:prstGeom>
          <a:solidFill>
            <a:srgbClr val="B9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85048" y="2103120"/>
            <a:ext cx="3255264" cy="10972"/>
          </a:xfrm>
          <a:prstGeom prst="rect">
            <a:avLst/>
          </a:prstGeom>
          <a:solidFill>
            <a:srgbClr val="B9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85048" y="2606040"/>
            <a:ext cx="3255264" cy="10972"/>
          </a:xfrm>
          <a:prstGeom prst="rect">
            <a:avLst/>
          </a:prstGeom>
          <a:solidFill>
            <a:srgbClr val="B9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85048" y="3108960"/>
            <a:ext cx="3255264" cy="10972"/>
          </a:xfrm>
          <a:prstGeom prst="rect">
            <a:avLst/>
          </a:prstGeom>
          <a:solidFill>
            <a:srgbClr val="B9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385048" y="3611880"/>
            <a:ext cx="3255264" cy="10972"/>
          </a:xfrm>
          <a:prstGeom prst="rect">
            <a:avLst/>
          </a:prstGeom>
          <a:solidFill>
            <a:srgbClr val="B9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85048" y="4114800"/>
            <a:ext cx="3255264" cy="10972"/>
          </a:xfrm>
          <a:prstGeom prst="rect">
            <a:avLst/>
          </a:prstGeom>
          <a:solidFill>
            <a:srgbClr val="B9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385048" y="4617720"/>
            <a:ext cx="3255264" cy="10972"/>
          </a:xfrm>
          <a:prstGeom prst="rect">
            <a:avLst/>
          </a:prstGeom>
          <a:solidFill>
            <a:srgbClr val="B9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750808" y="2057400"/>
            <a:ext cx="640080" cy="365760"/>
          </a:xfrm>
          <a:prstGeom prst="rect">
            <a:avLst/>
          </a:prstGeom>
          <a:solidFill>
            <a:srgbClr val="388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939528" y="2606040"/>
            <a:ext cx="731520" cy="502920"/>
          </a:xfrm>
          <a:prstGeom prst="rect">
            <a:avLst/>
          </a:prstGeom>
          <a:solidFill>
            <a:srgbClr val="388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579608" y="3611880"/>
            <a:ext cx="594360" cy="457200"/>
          </a:xfrm>
          <a:prstGeom prst="rect">
            <a:avLst/>
          </a:prstGeom>
          <a:solidFill>
            <a:srgbClr val="388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025128" y="4069080"/>
            <a:ext cx="822960" cy="411480"/>
          </a:xfrm>
          <a:prstGeom prst="rect">
            <a:avLst/>
          </a:prstGeom>
          <a:solidFill>
            <a:srgbClr val="388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853928" y="2240280"/>
            <a:ext cx="457200" cy="411480"/>
          </a:xfrm>
          <a:prstGeom prst="rect">
            <a:avLst/>
          </a:prstGeom>
          <a:solidFill>
            <a:srgbClr val="3884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85048" y="5230368"/>
            <a:ext cx="325526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Flood Map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603504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91BED7"/>
                </a:solidFill>
              </a:defRPr>
            </a:pPr>
            <a:r>
              <a:t>Before → After → Detection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37960" cy="6858000"/>
          </a:xfrm>
          <a:prstGeom prst="rect">
            <a:avLst/>
          </a:prstGeom>
          <a:solidFill>
            <a:srgbClr val="0E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411480"/>
            <a:ext cx="146304" cy="146304"/>
          </a:xfrm>
          <a:prstGeom prst="ellipse">
            <a:avLst/>
          </a:prstGeom>
          <a:solidFill>
            <a:srgbClr val="33B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806440" y="6080760"/>
            <a:ext cx="201168" cy="201168"/>
          </a:xfrm>
          <a:prstGeom prst="ellipse">
            <a:avLst/>
          </a:prstGeom>
          <a:solidFill>
            <a:srgbClr val="EFB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394960" y="548640"/>
            <a:ext cx="91440" cy="91440"/>
          </a:xfrm>
          <a:prstGeom prst="ellipse">
            <a:avLst/>
          </a:prstGeom>
          <a:solidFill>
            <a:srgbClr val="24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8368"/>
            <a:ext cx="5394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A6DAE0"/>
                </a:solidFill>
                <a:latin typeface="Aptos"/>
              </a:defRPr>
            </a:pPr>
            <a:r>
              <a:t>PROJECT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61872"/>
            <a:ext cx="544068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100" b="1">
                <a:solidFill>
                  <a:srgbClr val="FFFFFF"/>
                </a:solidFill>
                <a:latin typeface="Aptos Display"/>
              </a:defRPr>
            </a:pPr>
            <a:r>
              <a:t>Flood Detection</a:t>
            </a:r>
            <a:br/>
            <a:r>
              <a:t>Using Digital Image 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816352"/>
            <a:ext cx="5303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DAEAF2"/>
                </a:solidFill>
                <a:latin typeface="Aptos"/>
              </a:defRPr>
            </a:pPr>
            <a:r>
              <a:t>Satellite Imagery Analysis with NDVI &amp; NDWI in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4160520"/>
            <a:ext cx="5120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"/>
              </a:defRPr>
            </a:pPr>
            <a:r>
              <a:t>Aritra Halder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4553712"/>
            <a:ext cx="5120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DAEAF2"/>
                </a:solidFill>
                <a:latin typeface="Aptos"/>
              </a:defRPr>
            </a:pPr>
            <a:r>
              <a:t>Roll: BSSE 1704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5029200"/>
            <a:ext cx="5303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DAEAF2"/>
                </a:solidFill>
                <a:latin typeface="Aptos"/>
              </a:defRPr>
            </a:pPr>
            <a:r>
              <a:t>Supervisor: Dr. Emon Kumar Dey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596188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ABC7D8"/>
                </a:solidFill>
                <a:latin typeface="Aptos"/>
              </a:defRPr>
            </a:pPr>
            <a:r>
              <a:t>Department of Software Engineering • University of Dhaka</a:t>
            </a:r>
          </a:p>
        </p:txBody>
      </p:sp>
      <p:pic>
        <p:nvPicPr>
          <p:cNvPr id="14" name="Picture 13" descr="flood_satellite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0"/>
            <a:ext cx="5653735" cy="68580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537960" y="5440680"/>
            <a:ext cx="5653735" cy="1417320"/>
          </a:xfrm>
          <a:prstGeom prst="rect">
            <a:avLst/>
          </a:prstGeom>
          <a:solidFill>
            <a:srgbClr val="0723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5650992"/>
            <a:ext cx="4892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ptos"/>
              </a:defRPr>
            </a:pPr>
            <a:r>
              <a:t>Before → After → Flood Map</a:t>
            </a:r>
          </a:p>
        </p:txBody>
      </p:sp>
      <p:sp>
        <p:nvSpPr>
          <p:cNvPr id="17" name="Oval 16"/>
          <p:cNvSpPr/>
          <p:nvPr/>
        </p:nvSpPr>
        <p:spPr>
          <a:xfrm>
            <a:off x="11109960" y="137160"/>
            <a:ext cx="155448" cy="155448"/>
          </a:xfrm>
          <a:prstGeom prst="ellipse">
            <a:avLst/>
          </a:prstGeom>
          <a:solidFill>
            <a:srgbClr val="2C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356848" y="137160"/>
            <a:ext cx="155448" cy="155448"/>
          </a:xfrm>
          <a:prstGeom prst="ellipse">
            <a:avLst/>
          </a:prstGeom>
          <a:solidFill>
            <a:srgbClr val="50B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603736" y="137160"/>
            <a:ext cx="155448" cy="155448"/>
          </a:xfrm>
          <a:prstGeom prst="ellipse">
            <a:avLst/>
          </a:prstGeom>
          <a:solidFill>
            <a:srgbClr val="377D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E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Background &amp;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155448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FE2EF"/>
                </a:solidFill>
                <a:latin typeface="Aptos"/>
              </a:defRPr>
            </a:pPr>
            <a:r>
              <a:t>What the system takes in and why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"/>
            <a:ext cx="12191695" cy="50292"/>
          </a:xfrm>
          <a:prstGeom prst="rect">
            <a:avLst/>
          </a:prstGeom>
          <a:solidFill>
            <a:srgbClr val="33B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932688"/>
            <a:ext cx="548640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042416"/>
            <a:ext cx="515721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E2A4B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417320"/>
            <a:ext cx="515721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1E2A37"/>
                </a:solidFill>
                <a:latin typeface="Aptos"/>
              </a:defRPr>
            </a:pPr>
            <a:r>
              <a:t>Floods are a major natural hazard in Bangladesh. This project analyzes pre- and post-flood satellite imagery using digital image processing and spectral indices to detect newly flooded areas and estimate flood impact.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542032"/>
            <a:ext cx="5486400" cy="3429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651760"/>
            <a:ext cx="515721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E2A4B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035808"/>
            <a:ext cx="507492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20">
                <a:solidFill>
                  <a:srgbClr val="1E2A37"/>
                </a:solidFill>
                <a:latin typeface="Aptos"/>
              </a:defRPr>
            </a:pPr>
            <a:r>
              <a:t>• Read and process multispectral satellite bands: Red, Green, Blue, NIR.</a:t>
            </a:r>
          </a:p>
          <a:p>
            <a:pPr>
              <a:spcAft>
                <a:spcPts val="400"/>
              </a:spcAft>
              <a:defRPr sz="1320">
                <a:solidFill>
                  <a:srgbClr val="1E2A37"/>
                </a:solidFill>
                <a:latin typeface="Aptos"/>
              </a:defRPr>
            </a:pPr>
            <a:r>
              <a:t>• Apply image enhancement and basic filtering operations.</a:t>
            </a:r>
          </a:p>
          <a:p>
            <a:pPr>
              <a:spcAft>
                <a:spcPts val="400"/>
              </a:spcAft>
              <a:defRPr sz="1320">
                <a:solidFill>
                  <a:srgbClr val="1E2A37"/>
                </a:solidFill>
                <a:latin typeface="Aptos"/>
              </a:defRPr>
            </a:pPr>
            <a:r>
              <a:t>• Compute NDVI and NDWI for vegetation and water analysis.</a:t>
            </a:r>
          </a:p>
          <a:p>
            <a:pPr>
              <a:spcAft>
                <a:spcPts val="400"/>
              </a:spcAft>
              <a:defRPr sz="1320">
                <a:solidFill>
                  <a:srgbClr val="1E2A37"/>
                </a:solidFill>
                <a:latin typeface="Aptos"/>
              </a:defRPr>
            </a:pPr>
            <a:r>
              <a:t>• Compare pre-flood and post-flood images to identify newly flooded areas.</a:t>
            </a:r>
          </a:p>
          <a:p>
            <a:pPr>
              <a:spcAft>
                <a:spcPts val="400"/>
              </a:spcAft>
              <a:defRPr sz="1320">
                <a:solidFill>
                  <a:srgbClr val="1E2A37"/>
                </a:solidFill>
                <a:latin typeface="Aptos"/>
              </a:defRPr>
            </a:pPr>
            <a:r>
              <a:t>• Generate a flood map and calculate flooded area and percentage.</a:t>
            </a:r>
          </a:p>
          <a:p>
            <a:pPr>
              <a:spcAft>
                <a:spcPts val="400"/>
              </a:spcAft>
              <a:defRPr sz="1320">
                <a:solidFill>
                  <a:srgbClr val="1E2A37"/>
                </a:solidFill>
                <a:latin typeface="Aptos"/>
              </a:defRPr>
            </a:pPr>
            <a:r>
              <a:t>• Implement the complete workflow in C with approximately 4,000 lines of code.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932688"/>
            <a:ext cx="5440680" cy="503834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042416"/>
            <a:ext cx="511149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E2A4B"/>
                </a:solidFill>
                <a:latin typeface="Aptos"/>
              </a:defRPr>
            </a:pPr>
            <a:r>
              <a:t>System Input → Output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1572768"/>
            <a:ext cx="1783080" cy="1097280"/>
          </a:xfrm>
          <a:prstGeom prst="roundRect">
            <a:avLst/>
          </a:prstGeom>
          <a:solidFill>
            <a:srgbClr val="E0F1E4"/>
          </a:solidFill>
          <a:ln>
            <a:solidFill>
              <a:srgbClr val="B8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47688" y="1709928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E2A4B"/>
                </a:solidFill>
                <a:latin typeface="Aptos"/>
              </a:defRPr>
            </a:pPr>
            <a:r>
              <a:t>PRE-FLOOD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7688" y="2048256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5B6C7B"/>
                </a:solidFill>
                <a:latin typeface="Aptos"/>
              </a:defRPr>
            </a:pPr>
            <a:r>
              <a:t>Satellite image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13648" y="1572768"/>
            <a:ext cx="1783080" cy="1097280"/>
          </a:xfrm>
          <a:prstGeom prst="roundRect">
            <a:avLst/>
          </a:prstGeom>
          <a:solidFill>
            <a:srgbClr val="DCEEF9"/>
          </a:solidFill>
          <a:ln>
            <a:solidFill>
              <a:srgbClr val="B8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23376" y="1709928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E2A4B"/>
                </a:solidFill>
                <a:latin typeface="Aptos"/>
              </a:defRPr>
            </a:pPr>
            <a:r>
              <a:t>POST-FLOOD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23376" y="2048256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5B6C7B"/>
                </a:solidFill>
                <a:latin typeface="Aptos"/>
              </a:defRPr>
            </a:pPr>
            <a:r>
              <a:t>Satellite image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348472" y="2121408"/>
            <a:ext cx="228600" cy="0"/>
          </a:xfrm>
          <a:prstGeom prst="line">
            <a:avLst/>
          </a:prstGeom>
          <a:ln w="27940">
            <a:solidFill>
              <a:srgbClr val="1C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570464" y="1325880"/>
            <a:ext cx="822960" cy="1600200"/>
          </a:xfrm>
          <a:prstGeom prst="roundRect">
            <a:avLst/>
          </a:prstGeom>
          <a:solidFill>
            <a:srgbClr val="E5F6F4"/>
          </a:solidFill>
          <a:ln>
            <a:solidFill>
              <a:srgbClr val="2491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16184" y="1609344"/>
            <a:ext cx="731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249189"/>
                </a:solidFill>
                <a:latin typeface="Aptos"/>
              </a:defRPr>
            </a:pPr>
            <a:r>
              <a:t>FLOOD</a:t>
            </a:r>
            <a:br/>
            <a:r>
              <a:t>MAP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063240"/>
            <a:ext cx="4709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E2A4B"/>
                </a:solidFill>
                <a:latin typeface="Aptos"/>
              </a:defRPr>
            </a:pPr>
            <a:r>
              <a:t>Expected Outputs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438144"/>
            <a:ext cx="46177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40">
                <a:solidFill>
                  <a:srgbClr val="1E2A37"/>
                </a:solidFill>
                <a:latin typeface="Aptos"/>
              </a:defRPr>
            </a:pPr>
            <a:r>
              <a:t>• Flood map with highlighted flooded regions</a:t>
            </a:r>
          </a:p>
          <a:p>
            <a:pPr>
              <a:spcAft>
                <a:spcPts val="500"/>
              </a:spcAft>
              <a:defRPr sz="1340">
                <a:solidFill>
                  <a:srgbClr val="1E2A37"/>
                </a:solidFill>
                <a:latin typeface="Aptos"/>
              </a:defRPr>
            </a:pPr>
            <a:r>
              <a:t>• Total flooded area (km²)</a:t>
            </a:r>
          </a:p>
          <a:p>
            <a:pPr>
              <a:spcAft>
                <a:spcPts val="500"/>
              </a:spcAft>
              <a:defRPr sz="1340">
                <a:solidFill>
                  <a:srgbClr val="1E2A37"/>
                </a:solidFill>
                <a:latin typeface="Aptos"/>
              </a:defRPr>
            </a:pPr>
            <a:r>
              <a:t>• Flood percentage and flooded-pixel count</a:t>
            </a:r>
          </a:p>
          <a:p>
            <a:pPr>
              <a:spcAft>
                <a:spcPts val="500"/>
              </a:spcAft>
              <a:defRPr sz="1340">
                <a:solidFill>
                  <a:srgbClr val="1E2A37"/>
                </a:solidFill>
                <a:latin typeface="Aptos"/>
              </a:defRPr>
            </a:pPr>
            <a:r>
              <a:t>• NDVI / NDWI before vs. after averages</a:t>
            </a:r>
          </a:p>
          <a:p>
            <a:pPr>
              <a:spcAft>
                <a:spcPts val="500"/>
              </a:spcAft>
              <a:defRPr sz="1340">
                <a:solidFill>
                  <a:srgbClr val="1E2A37"/>
                </a:solidFill>
                <a:latin typeface="Aptos"/>
              </a:defRPr>
            </a:pPr>
            <a:r>
              <a:t>• Flood severity indicator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37960" y="5413248"/>
            <a:ext cx="109728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C7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74536" y="5477256"/>
            <a:ext cx="1024128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69" b="0">
                <a:solidFill>
                  <a:srgbClr val="5B6C7B"/>
                </a:solidFill>
                <a:latin typeface="Aptos"/>
              </a:defRPr>
            </a:pPr>
            <a:r>
              <a:t>Flood pixels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74536" y="5632704"/>
            <a:ext cx="1024128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30" b="1">
                <a:solidFill>
                  <a:srgbClr val="0E2A4B"/>
                </a:solidFill>
                <a:latin typeface="Aptos"/>
              </a:defRPr>
            </a:pPr>
            <a:r>
              <a:t>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99832" y="5413248"/>
            <a:ext cx="109728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C7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36408" y="5477256"/>
            <a:ext cx="1024128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69" b="0">
                <a:solidFill>
                  <a:srgbClr val="5B6C7B"/>
                </a:solidFill>
                <a:latin typeface="Aptos"/>
              </a:defRPr>
            </a:pPr>
            <a:r>
              <a:t>Flood area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36408" y="5632704"/>
            <a:ext cx="1024128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30" b="1">
                <a:solidFill>
                  <a:srgbClr val="0E2A4B"/>
                </a:solidFill>
                <a:latin typeface="Aptos"/>
              </a:defRPr>
            </a:pPr>
            <a:r>
              <a:t>km²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61704" y="5413248"/>
            <a:ext cx="109728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C7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98280" y="5477256"/>
            <a:ext cx="1024128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69" b="0">
                <a:solidFill>
                  <a:srgbClr val="5B6C7B"/>
                </a:solidFill>
                <a:latin typeface="Aptos"/>
              </a:defRPr>
            </a:pPr>
            <a:r>
              <a:t>Flood 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5632704"/>
            <a:ext cx="1024128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30" b="1">
                <a:solidFill>
                  <a:srgbClr val="0E2A4B"/>
                </a:solidFill>
                <a:latin typeface="Aptos"/>
              </a:defRPr>
            </a:pPr>
            <a:r>
              <a:t>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323576" y="5413248"/>
            <a:ext cx="109728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C7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360151" y="5477256"/>
            <a:ext cx="1024128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69" b="0">
                <a:solidFill>
                  <a:srgbClr val="5B6C7B"/>
                </a:solidFill>
                <a:latin typeface="Aptos"/>
              </a:defRPr>
            </a:pPr>
            <a:r>
              <a:t>Severity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60151" y="5632704"/>
            <a:ext cx="1024128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30" b="1">
                <a:solidFill>
                  <a:srgbClr val="0E2A4B"/>
                </a:solidFill>
                <a:latin typeface="Aptos"/>
              </a:defRPr>
            </a:pPr>
            <a:r>
              <a:t>Level</a:t>
            </a:r>
          </a:p>
        </p:txBody>
      </p:sp>
      <p:sp>
        <p:nvSpPr>
          <p:cNvPr id="38" name="Oval 37"/>
          <p:cNvSpPr/>
          <p:nvPr/>
        </p:nvSpPr>
        <p:spPr>
          <a:xfrm>
            <a:off x="11109960" y="137160"/>
            <a:ext cx="155448" cy="155448"/>
          </a:xfrm>
          <a:prstGeom prst="ellipse">
            <a:avLst/>
          </a:prstGeom>
          <a:solidFill>
            <a:srgbClr val="2C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356848" y="137160"/>
            <a:ext cx="155448" cy="155448"/>
          </a:xfrm>
          <a:prstGeom prst="ellipse">
            <a:avLst/>
          </a:prstGeom>
          <a:solidFill>
            <a:srgbClr val="50B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603736" y="137160"/>
            <a:ext cx="155448" cy="155448"/>
          </a:xfrm>
          <a:prstGeom prst="ellipse">
            <a:avLst/>
          </a:prstGeom>
          <a:solidFill>
            <a:srgbClr val="377D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E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System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155448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FE2EF"/>
                </a:solidFill>
                <a:latin typeface="Aptos"/>
              </a:defRPr>
            </a:pPr>
            <a:r>
              <a:t>From satellite pixels to flood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"/>
            <a:ext cx="12191695" cy="50292"/>
          </a:xfrm>
          <a:prstGeom prst="rect">
            <a:avLst/>
          </a:prstGeom>
          <a:solidFill>
            <a:srgbClr val="24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234440"/>
            <a:ext cx="1627632" cy="1874519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D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9264" y="1024128"/>
            <a:ext cx="502920" cy="502920"/>
          </a:xfrm>
          <a:prstGeom prst="ellipse">
            <a:avLst/>
          </a:prstGeom>
          <a:solidFill>
            <a:srgbClr val="24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1097280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673352"/>
            <a:ext cx="13898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E2A4B"/>
                </a:solidFill>
                <a:latin typeface="Aptos"/>
              </a:defRPr>
            </a:pPr>
            <a:r>
              <a:t>Satellite 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212848"/>
            <a:ext cx="138988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20" b="0">
                <a:solidFill>
                  <a:srgbClr val="5B6C7B"/>
                </a:solidFill>
                <a:latin typeface="Aptos"/>
              </a:defRPr>
            </a:pPr>
            <a:r>
              <a:t>R, G, B, NIR</a:t>
            </a:r>
            <a:br/>
            <a:r>
              <a:t>Pre + Post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57400" y="2176272"/>
            <a:ext cx="201168" cy="0"/>
          </a:xfrm>
          <a:prstGeom prst="line">
            <a:avLst/>
          </a:prstGeom>
          <a:ln w="27940">
            <a:solidFill>
              <a:srgbClr val="2491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331720" y="1234440"/>
            <a:ext cx="1627632" cy="1874519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D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889503" y="1024128"/>
            <a:ext cx="502920" cy="502920"/>
          </a:xfrm>
          <a:prstGeom prst="ellipse">
            <a:avLst/>
          </a:prstGeom>
          <a:solidFill>
            <a:srgbClr val="24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9503" y="1097280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50591" y="1673352"/>
            <a:ext cx="13898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E2A4B"/>
                </a:solidFill>
                <a:latin typeface="Aptos"/>
              </a:defRPr>
            </a:pPr>
            <a:r>
              <a:t>Pixel / Band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50591" y="2212848"/>
            <a:ext cx="138988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20" b="0">
                <a:solidFill>
                  <a:srgbClr val="5B6C7B"/>
                </a:solidFill>
                <a:latin typeface="Aptos"/>
              </a:defRPr>
            </a:pPr>
            <a:r>
              <a:t>Store bands as</a:t>
            </a:r>
            <a:br/>
            <a:r>
              <a:t>matrices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977639" y="2176272"/>
            <a:ext cx="201169" cy="0"/>
          </a:xfrm>
          <a:prstGeom prst="line">
            <a:avLst/>
          </a:prstGeom>
          <a:ln w="27940">
            <a:solidFill>
              <a:srgbClr val="2491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251960" y="1234440"/>
            <a:ext cx="1627632" cy="1874519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D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809744" y="1024128"/>
            <a:ext cx="502920" cy="502920"/>
          </a:xfrm>
          <a:prstGeom prst="ellipse">
            <a:avLst/>
          </a:prstGeom>
          <a:solidFill>
            <a:srgbClr val="24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09744" y="1097280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70832" y="1673352"/>
            <a:ext cx="13898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E2A4B"/>
                </a:solidFill>
                <a:latin typeface="Aptos"/>
              </a:defRPr>
            </a:pPr>
            <a:r>
              <a:t>Index Calculation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70832" y="2212848"/>
            <a:ext cx="138988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20" b="0">
                <a:solidFill>
                  <a:srgbClr val="5B6C7B"/>
                </a:solidFill>
                <a:latin typeface="Aptos"/>
              </a:defRPr>
            </a:pPr>
            <a:r>
              <a:t>NDVI + NDWI</a:t>
            </a:r>
            <a:br/>
            <a:r>
              <a:t>for each pixel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897880" y="2176272"/>
            <a:ext cx="201168" cy="0"/>
          </a:xfrm>
          <a:prstGeom prst="line">
            <a:avLst/>
          </a:prstGeom>
          <a:ln w="27940">
            <a:solidFill>
              <a:srgbClr val="2491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172200" y="1234440"/>
            <a:ext cx="1627632" cy="1874519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D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29984" y="1024128"/>
            <a:ext cx="502920" cy="502920"/>
          </a:xfrm>
          <a:prstGeom prst="ellipse">
            <a:avLst/>
          </a:prstGeom>
          <a:solidFill>
            <a:srgbClr val="24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9984" y="1097280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91072" y="1673352"/>
            <a:ext cx="13898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E2A4B"/>
                </a:solidFill>
                <a:latin typeface="Aptos"/>
              </a:defRPr>
            </a:pPr>
            <a:r>
              <a:t>Thresholding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91072" y="2212848"/>
            <a:ext cx="138988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20" b="0">
                <a:solidFill>
                  <a:srgbClr val="5B6C7B"/>
                </a:solidFill>
                <a:latin typeface="Aptos"/>
              </a:defRPr>
            </a:pPr>
            <a:r>
              <a:t>Water = 1</a:t>
            </a:r>
            <a:br/>
            <a:r>
              <a:t>Non-water = 0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818120" y="2176272"/>
            <a:ext cx="201168" cy="0"/>
          </a:xfrm>
          <a:prstGeom prst="line">
            <a:avLst/>
          </a:prstGeom>
          <a:ln w="27940">
            <a:solidFill>
              <a:srgbClr val="2491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092440" y="1234440"/>
            <a:ext cx="1627632" cy="1874519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D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50224" y="1024128"/>
            <a:ext cx="502920" cy="502920"/>
          </a:xfrm>
          <a:prstGeom prst="ellipse">
            <a:avLst/>
          </a:prstGeom>
          <a:solidFill>
            <a:srgbClr val="24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50224" y="1097280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2" y="1673352"/>
            <a:ext cx="13898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E2A4B"/>
                </a:solidFill>
                <a:latin typeface="Aptos"/>
              </a:defRPr>
            </a:pPr>
            <a:r>
              <a:t>Pre vs Post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2212848"/>
            <a:ext cx="138988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20" b="0">
                <a:solidFill>
                  <a:srgbClr val="5B6C7B"/>
                </a:solidFill>
                <a:latin typeface="Aptos"/>
              </a:defRPr>
            </a:pPr>
            <a:r>
              <a:t>0 → 1 =</a:t>
            </a:r>
            <a:br/>
            <a:r>
              <a:t>newly flooded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738360" y="2176272"/>
            <a:ext cx="201168" cy="0"/>
          </a:xfrm>
          <a:prstGeom prst="line">
            <a:avLst/>
          </a:prstGeom>
          <a:ln w="27940">
            <a:solidFill>
              <a:srgbClr val="2491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10012680" y="1234440"/>
            <a:ext cx="1627632" cy="1874519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DDA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570463" y="1024128"/>
            <a:ext cx="502920" cy="502920"/>
          </a:xfrm>
          <a:prstGeom prst="ellipse">
            <a:avLst/>
          </a:prstGeom>
          <a:solidFill>
            <a:srgbClr val="24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70463" y="1097280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31552" y="1673352"/>
            <a:ext cx="138988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E2A4B"/>
                </a:solidFill>
                <a:latin typeface="Aptos"/>
              </a:defRPr>
            </a:pPr>
            <a:r>
              <a:t>Flood Analysis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31552" y="2212848"/>
            <a:ext cx="1389888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20" b="0">
                <a:solidFill>
                  <a:srgbClr val="5B6C7B"/>
                </a:solidFill>
                <a:latin typeface="Aptos"/>
              </a:defRPr>
            </a:pPr>
            <a:r>
              <a:t>Map + area +</a:t>
            </a:r>
            <a:br/>
            <a:r>
              <a:t>percentage + severity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3657600"/>
            <a:ext cx="11201400" cy="2514600"/>
          </a:xfrm>
          <a:prstGeom prst="roundRect">
            <a:avLst/>
          </a:prstGeom>
          <a:solidFill>
            <a:srgbClr val="F4FAFB"/>
          </a:solidFill>
          <a:ln>
            <a:solidFill>
              <a:srgbClr val="BED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9808" y="385876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E2A4B"/>
                </a:solidFill>
                <a:latin typeface="Aptos"/>
              </a:defRPr>
            </a:pPr>
            <a:r>
              <a:t>Flood Detection Logic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4400" y="4407408"/>
            <a:ext cx="1572768" cy="960120"/>
          </a:xfrm>
          <a:prstGeom prst="roundRect">
            <a:avLst/>
          </a:prstGeom>
          <a:solidFill>
            <a:srgbClr val="E1F0E6"/>
          </a:solidFill>
          <a:ln>
            <a:solidFill>
              <a:srgbClr val="BF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7552" y="4645152"/>
            <a:ext cx="142646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1">
                <a:solidFill>
                  <a:srgbClr val="0E2A4B"/>
                </a:solidFill>
                <a:latin typeface="Aptos"/>
              </a:defRPr>
            </a:pPr>
            <a:r>
              <a:t>Pre-flood</a:t>
            </a:r>
            <a:br/>
            <a:r>
              <a:t>Water Map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246120" y="4407408"/>
            <a:ext cx="1572768" cy="960120"/>
          </a:xfrm>
          <a:prstGeom prst="roundRect">
            <a:avLst/>
          </a:prstGeom>
          <a:solidFill>
            <a:srgbClr val="E0EEF9"/>
          </a:solidFill>
          <a:ln>
            <a:solidFill>
              <a:srgbClr val="BF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19272" y="4645152"/>
            <a:ext cx="142646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1">
                <a:solidFill>
                  <a:srgbClr val="0E2A4B"/>
                </a:solidFill>
                <a:latin typeface="Aptos"/>
              </a:defRPr>
            </a:pPr>
            <a:r>
              <a:t>Post-flood</a:t>
            </a:r>
            <a:br/>
            <a:r>
              <a:t>Water Map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623560" y="4407408"/>
            <a:ext cx="1572768" cy="960120"/>
          </a:xfrm>
          <a:prstGeom prst="roundRect">
            <a:avLst/>
          </a:prstGeom>
          <a:solidFill>
            <a:srgbClr val="FBF1DA"/>
          </a:solidFill>
          <a:ln>
            <a:solidFill>
              <a:srgbClr val="BF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696712" y="4645152"/>
            <a:ext cx="142646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1">
                <a:solidFill>
                  <a:srgbClr val="0E2A4B"/>
                </a:solidFill>
                <a:latin typeface="Aptos"/>
              </a:defRPr>
            </a:pPr>
            <a:r>
              <a:t>Compare</a:t>
            </a:r>
            <a:br/>
            <a:r>
              <a:t>Matrices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01000" y="4407408"/>
            <a:ext cx="1572768" cy="960120"/>
          </a:xfrm>
          <a:prstGeom prst="roundRect">
            <a:avLst/>
          </a:prstGeom>
          <a:solidFill>
            <a:srgbClr val="F0E5F4"/>
          </a:solidFill>
          <a:ln>
            <a:solidFill>
              <a:srgbClr val="BF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74152" y="4645152"/>
            <a:ext cx="142646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1">
                <a:solidFill>
                  <a:srgbClr val="0E2A4B"/>
                </a:solidFill>
                <a:latin typeface="Aptos"/>
              </a:defRPr>
            </a:pPr>
            <a:r>
              <a:t>0 → 1</a:t>
            </a:r>
            <a:br/>
            <a:r>
              <a:t>Change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058400" y="4407408"/>
            <a:ext cx="1572768" cy="960120"/>
          </a:xfrm>
          <a:prstGeom prst="roundRect">
            <a:avLst/>
          </a:prstGeom>
          <a:solidFill>
            <a:srgbClr val="E5F6F4"/>
          </a:solidFill>
          <a:ln>
            <a:solidFill>
              <a:srgbClr val="BF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131552" y="4645152"/>
            <a:ext cx="142646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1">
                <a:solidFill>
                  <a:srgbClr val="0E2A4B"/>
                </a:solidFill>
                <a:latin typeface="Aptos"/>
              </a:defRPr>
            </a:pPr>
            <a:r>
              <a:t>Newly</a:t>
            </a:r>
            <a:br/>
            <a:r>
              <a:t>Flooded Area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2496312" y="4892040"/>
            <a:ext cx="502920" cy="0"/>
          </a:xfrm>
          <a:prstGeom prst="line">
            <a:avLst/>
          </a:prstGeom>
          <a:ln w="30480">
            <a:solidFill>
              <a:srgbClr val="1C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4873752" y="4892040"/>
            <a:ext cx="502920" cy="0"/>
          </a:xfrm>
          <a:prstGeom prst="line">
            <a:avLst/>
          </a:prstGeom>
          <a:ln w="30480">
            <a:solidFill>
              <a:srgbClr val="1C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7251192" y="4892040"/>
            <a:ext cx="502920" cy="0"/>
          </a:xfrm>
          <a:prstGeom prst="line">
            <a:avLst/>
          </a:prstGeom>
          <a:ln w="30480">
            <a:solidFill>
              <a:srgbClr val="1C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582912" y="4892040"/>
            <a:ext cx="502920" cy="0"/>
          </a:xfrm>
          <a:prstGeom prst="line">
            <a:avLst/>
          </a:prstGeom>
          <a:ln w="30480">
            <a:solidFill>
              <a:srgbClr val="1C68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914400" y="5623560"/>
            <a:ext cx="9875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0">
                <a:solidFill>
                  <a:srgbClr val="5B6C7B"/>
                </a:solidFill>
                <a:latin typeface="Aptos"/>
              </a:defRPr>
            </a:pPr>
            <a:r>
              <a:t>Water pixels are identified from NDWI thresholding; newly flooded pixels are detected where pre-flood = 0 and post-flood = 1.</a:t>
            </a:r>
          </a:p>
        </p:txBody>
      </p:sp>
      <p:sp>
        <p:nvSpPr>
          <p:cNvPr id="59" name="Oval 58"/>
          <p:cNvSpPr/>
          <p:nvPr/>
        </p:nvSpPr>
        <p:spPr>
          <a:xfrm>
            <a:off x="11109960" y="137160"/>
            <a:ext cx="155448" cy="155448"/>
          </a:xfrm>
          <a:prstGeom prst="ellipse">
            <a:avLst/>
          </a:prstGeom>
          <a:solidFill>
            <a:srgbClr val="2C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1356848" y="137160"/>
            <a:ext cx="155448" cy="155448"/>
          </a:xfrm>
          <a:prstGeom prst="ellipse">
            <a:avLst/>
          </a:prstGeom>
          <a:solidFill>
            <a:srgbClr val="50B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1603736" y="137160"/>
            <a:ext cx="155448" cy="155448"/>
          </a:xfrm>
          <a:prstGeom prst="ellipse">
            <a:avLst/>
          </a:prstGeom>
          <a:solidFill>
            <a:srgbClr val="377D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E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Spectral Indices &amp; Flood Logic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"/>
            <a:ext cx="12191695" cy="50292"/>
          </a:xfrm>
          <a:prstGeom prst="rect">
            <a:avLst/>
          </a:prstGeom>
          <a:solidFill>
            <a:srgbClr val="EFB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987552"/>
            <a:ext cx="361188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097280"/>
            <a:ext cx="328269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E2A4B"/>
                </a:solidFill>
                <a:latin typeface="Aptos"/>
              </a:defRPr>
            </a:pPr>
            <a:r>
              <a:t>NDVI — Vegetation Index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27632"/>
            <a:ext cx="312724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900" b="1">
                <a:solidFill>
                  <a:srgbClr val="0E2A4B"/>
                </a:solidFill>
                <a:latin typeface="Aptos"/>
              </a:defRPr>
            </a:pPr>
            <a:r>
              <a:t>NDVI = (NIR − Red) / (NIR + Red)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212848"/>
            <a:ext cx="3063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40">
                <a:solidFill>
                  <a:srgbClr val="1E2A37"/>
                </a:solidFill>
                <a:latin typeface="Aptos"/>
              </a:defRPr>
            </a:pPr>
            <a:r>
              <a:t>• High NDVI → healthy vegetation</a:t>
            </a:r>
          </a:p>
          <a:p>
            <a:pPr>
              <a:spcAft>
                <a:spcPts val="300"/>
              </a:spcAft>
              <a:defRPr sz="1140">
                <a:solidFill>
                  <a:srgbClr val="1E2A37"/>
                </a:solidFill>
                <a:latin typeface="Aptos"/>
              </a:defRPr>
            </a:pPr>
            <a:r>
              <a:t>• Lower NDVI → less vegetation / possible impact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8536" y="987552"/>
            <a:ext cx="361188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3128" y="1097280"/>
            <a:ext cx="328269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E2A4B"/>
                </a:solidFill>
                <a:latin typeface="Aptos"/>
              </a:defRPr>
            </a:pPr>
            <a:r>
              <a:t>NDWI — Water Index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5424" y="1627632"/>
            <a:ext cx="312724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0E2A4B"/>
                </a:solidFill>
                <a:latin typeface="Aptos"/>
              </a:defRPr>
            </a:pPr>
            <a:r>
              <a:t>NDWI = (Green − NIR) / (Green + NIR)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2212848"/>
            <a:ext cx="3063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40">
                <a:solidFill>
                  <a:srgbClr val="1E2A37"/>
                </a:solidFill>
                <a:latin typeface="Aptos"/>
              </a:defRPr>
            </a:pPr>
            <a:r>
              <a:t>• High NDWI → water presence</a:t>
            </a:r>
          </a:p>
          <a:p>
            <a:pPr>
              <a:spcAft>
                <a:spcPts val="300"/>
              </a:spcAft>
              <a:defRPr sz="1140">
                <a:solidFill>
                  <a:srgbClr val="1E2A37"/>
                </a:solidFill>
                <a:latin typeface="Aptos"/>
              </a:defRPr>
            </a:pPr>
            <a:r>
              <a:t>• Lower NDWI → land / vegetation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4152" y="987552"/>
            <a:ext cx="3611880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2920" y="3611880"/>
            <a:ext cx="6492240" cy="2423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3721608"/>
            <a:ext cx="616305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E2A4B"/>
                </a:solidFill>
                <a:latin typeface="Aptos"/>
              </a:defRPr>
            </a:pPr>
            <a:r>
              <a:t>Pixel-Level Water Classification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270248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0E2A4B"/>
                </a:solidFill>
                <a:latin typeface="Aptos"/>
              </a:defRPr>
            </a:pPr>
            <a:r>
              <a:t>Water Map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4572000"/>
            <a:ext cx="329184" cy="292608"/>
          </a:xfrm>
          <a:prstGeom prst="rect">
            <a:avLst/>
          </a:prstGeom>
          <a:solidFill>
            <a:srgbClr val="FFFFFF"/>
          </a:solidFill>
          <a:ln>
            <a:solidFill>
              <a:srgbClr val="B4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617720"/>
            <a:ext cx="32918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5B6C7B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16152" y="4572000"/>
            <a:ext cx="329184" cy="292608"/>
          </a:xfrm>
          <a:prstGeom prst="rect">
            <a:avLst/>
          </a:prstGeom>
          <a:solidFill>
            <a:srgbClr val="FFFFFF"/>
          </a:solidFill>
          <a:ln>
            <a:solidFill>
              <a:srgbClr val="B4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16152" y="4617720"/>
            <a:ext cx="32918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5B6C7B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63624" y="4572000"/>
            <a:ext cx="329184" cy="292608"/>
          </a:xfrm>
          <a:prstGeom prst="rect">
            <a:avLst/>
          </a:prstGeom>
          <a:solidFill>
            <a:srgbClr val="FFFFFF"/>
          </a:solidFill>
          <a:ln>
            <a:solidFill>
              <a:srgbClr val="B4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63624" y="4617720"/>
            <a:ext cx="32918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5B6C7B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11095" y="4572000"/>
            <a:ext cx="329184" cy="292608"/>
          </a:xfrm>
          <a:prstGeom prst="rect">
            <a:avLst/>
          </a:prstGeom>
          <a:solidFill>
            <a:srgbClr val="FFFFFF"/>
          </a:solidFill>
          <a:ln>
            <a:solidFill>
              <a:srgbClr val="B4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11095" y="4617720"/>
            <a:ext cx="32918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5B6C7B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58568" y="4572000"/>
            <a:ext cx="329184" cy="292608"/>
          </a:xfrm>
          <a:prstGeom prst="rect">
            <a:avLst/>
          </a:prstGeom>
          <a:solidFill>
            <a:srgbClr val="FFFFFF"/>
          </a:solidFill>
          <a:ln>
            <a:solidFill>
              <a:srgbClr val="B4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58568" y="4617720"/>
            <a:ext cx="32918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5B6C7B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8680" y="4882896"/>
            <a:ext cx="329184" cy="292608"/>
          </a:xfrm>
          <a:prstGeom prst="rect">
            <a:avLst/>
          </a:prstGeom>
          <a:solidFill>
            <a:srgbClr val="FFFFFF"/>
          </a:solidFill>
          <a:ln>
            <a:solidFill>
              <a:srgbClr val="B4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4928616"/>
            <a:ext cx="32918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5B6C7B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16152" y="4882896"/>
            <a:ext cx="329184" cy="292608"/>
          </a:xfrm>
          <a:prstGeom prst="rect">
            <a:avLst/>
          </a:prstGeom>
          <a:solidFill>
            <a:srgbClr val="3491BE"/>
          </a:solidFill>
          <a:ln>
            <a:solidFill>
              <a:srgbClr val="B4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16152" y="4928616"/>
            <a:ext cx="32918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563624" y="4882896"/>
            <a:ext cx="329184" cy="292608"/>
          </a:xfrm>
          <a:prstGeom prst="rect">
            <a:avLst/>
          </a:prstGeom>
          <a:solidFill>
            <a:srgbClr val="3491BE"/>
          </a:solidFill>
          <a:ln>
            <a:solidFill>
              <a:srgbClr val="B4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563624" y="4928616"/>
            <a:ext cx="32918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11095" y="4882896"/>
            <a:ext cx="329184" cy="292608"/>
          </a:xfrm>
          <a:prstGeom prst="rect">
            <a:avLst/>
          </a:prstGeom>
          <a:solidFill>
            <a:srgbClr val="FFFFFF"/>
          </a:solidFill>
          <a:ln>
            <a:solidFill>
              <a:srgbClr val="B4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911095" y="4928616"/>
            <a:ext cx="32918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5B6C7B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58568" y="4882896"/>
            <a:ext cx="329184" cy="292608"/>
          </a:xfrm>
          <a:prstGeom prst="rect">
            <a:avLst/>
          </a:prstGeom>
          <a:solidFill>
            <a:srgbClr val="FFFFFF"/>
          </a:solidFill>
          <a:ln>
            <a:solidFill>
              <a:srgbClr val="B4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258568" y="4928616"/>
            <a:ext cx="32918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5B6C7B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68680" y="5193792"/>
            <a:ext cx="329184" cy="292608"/>
          </a:xfrm>
          <a:prstGeom prst="rect">
            <a:avLst/>
          </a:prstGeom>
          <a:solidFill>
            <a:srgbClr val="FFFFFF"/>
          </a:solidFill>
          <a:ln>
            <a:solidFill>
              <a:srgbClr val="B4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239512"/>
            <a:ext cx="32918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5B6C7B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216152" y="5193792"/>
            <a:ext cx="329184" cy="292608"/>
          </a:xfrm>
          <a:prstGeom prst="rect">
            <a:avLst/>
          </a:prstGeom>
          <a:solidFill>
            <a:srgbClr val="3491BE"/>
          </a:solidFill>
          <a:ln>
            <a:solidFill>
              <a:srgbClr val="B4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16152" y="5239512"/>
            <a:ext cx="32918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563624" y="5193792"/>
            <a:ext cx="329184" cy="292608"/>
          </a:xfrm>
          <a:prstGeom prst="rect">
            <a:avLst/>
          </a:prstGeom>
          <a:solidFill>
            <a:srgbClr val="3491BE"/>
          </a:solidFill>
          <a:ln>
            <a:solidFill>
              <a:srgbClr val="B4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563624" y="5239512"/>
            <a:ext cx="32918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11095" y="5193792"/>
            <a:ext cx="329184" cy="292608"/>
          </a:xfrm>
          <a:prstGeom prst="rect">
            <a:avLst/>
          </a:prstGeom>
          <a:solidFill>
            <a:srgbClr val="3491BE"/>
          </a:solidFill>
          <a:ln>
            <a:solidFill>
              <a:srgbClr val="B4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911095" y="5239512"/>
            <a:ext cx="32918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258568" y="5193792"/>
            <a:ext cx="329184" cy="292608"/>
          </a:xfrm>
          <a:prstGeom prst="rect">
            <a:avLst/>
          </a:prstGeom>
          <a:solidFill>
            <a:srgbClr val="FFFFFF"/>
          </a:solidFill>
          <a:ln>
            <a:solidFill>
              <a:srgbClr val="B4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258568" y="5239512"/>
            <a:ext cx="32918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5B6C7B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68680" y="5504688"/>
            <a:ext cx="329184" cy="292608"/>
          </a:xfrm>
          <a:prstGeom prst="rect">
            <a:avLst/>
          </a:prstGeom>
          <a:solidFill>
            <a:srgbClr val="FFFFFF"/>
          </a:solidFill>
          <a:ln>
            <a:solidFill>
              <a:srgbClr val="B4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8680" y="5550407"/>
            <a:ext cx="32918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5B6C7B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216152" y="5504688"/>
            <a:ext cx="329184" cy="292608"/>
          </a:xfrm>
          <a:prstGeom prst="rect">
            <a:avLst/>
          </a:prstGeom>
          <a:solidFill>
            <a:srgbClr val="FFFFFF"/>
          </a:solidFill>
          <a:ln>
            <a:solidFill>
              <a:srgbClr val="B4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216152" y="5550407"/>
            <a:ext cx="32918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5B6C7B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563624" y="5504688"/>
            <a:ext cx="329184" cy="292608"/>
          </a:xfrm>
          <a:prstGeom prst="rect">
            <a:avLst/>
          </a:prstGeom>
          <a:solidFill>
            <a:srgbClr val="FFFFFF"/>
          </a:solidFill>
          <a:ln>
            <a:solidFill>
              <a:srgbClr val="B4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563624" y="5550407"/>
            <a:ext cx="32918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5B6C7B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911095" y="5504688"/>
            <a:ext cx="329184" cy="292608"/>
          </a:xfrm>
          <a:prstGeom prst="rect">
            <a:avLst/>
          </a:prstGeom>
          <a:solidFill>
            <a:srgbClr val="FFFFFF"/>
          </a:solidFill>
          <a:ln>
            <a:solidFill>
              <a:srgbClr val="B4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911095" y="5550407"/>
            <a:ext cx="32918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5B6C7B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258568" y="5504688"/>
            <a:ext cx="329184" cy="292608"/>
          </a:xfrm>
          <a:prstGeom prst="rect">
            <a:avLst/>
          </a:prstGeom>
          <a:solidFill>
            <a:srgbClr val="FFFFFF"/>
          </a:solidFill>
          <a:ln>
            <a:solidFill>
              <a:srgbClr val="B4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258568" y="5550407"/>
            <a:ext cx="32918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5B6C7B"/>
                </a:solidFill>
                <a:latin typeface="Aptos"/>
              </a:defRPr>
            </a:pPr>
            <a:r>
              <a:t>0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2971800" y="5074920"/>
            <a:ext cx="685800" cy="0"/>
          </a:xfrm>
          <a:prstGeom prst="line">
            <a:avLst/>
          </a:prstGeom>
          <a:ln w="27940">
            <a:solidFill>
              <a:srgbClr val="2491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3886200" y="4270248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0E2A4B"/>
                </a:solidFill>
                <a:latin typeface="Aptos"/>
              </a:defRPr>
            </a:pPr>
            <a:r>
              <a:t>Post-Flood Water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886200" y="4572000"/>
            <a:ext cx="329184" cy="292608"/>
          </a:xfrm>
          <a:prstGeom prst="rect">
            <a:avLst/>
          </a:prstGeom>
          <a:solidFill>
            <a:srgbClr val="FFFFFF"/>
          </a:solidFill>
          <a:ln>
            <a:solidFill>
              <a:srgbClr val="B4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886200" y="4617720"/>
            <a:ext cx="32918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5B6C7B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233672" y="4572000"/>
            <a:ext cx="329184" cy="292608"/>
          </a:xfrm>
          <a:prstGeom prst="rect">
            <a:avLst/>
          </a:prstGeom>
          <a:solidFill>
            <a:srgbClr val="3491BE"/>
          </a:solidFill>
          <a:ln>
            <a:solidFill>
              <a:srgbClr val="B4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233672" y="4617720"/>
            <a:ext cx="32918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81144" y="4572000"/>
            <a:ext cx="329184" cy="292608"/>
          </a:xfrm>
          <a:prstGeom prst="rect">
            <a:avLst/>
          </a:prstGeom>
          <a:solidFill>
            <a:srgbClr val="FFFFFF"/>
          </a:solidFill>
          <a:ln>
            <a:solidFill>
              <a:srgbClr val="B4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81144" y="4617720"/>
            <a:ext cx="32918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5B6C7B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928616" y="4572000"/>
            <a:ext cx="329184" cy="292608"/>
          </a:xfrm>
          <a:prstGeom prst="rect">
            <a:avLst/>
          </a:prstGeom>
          <a:solidFill>
            <a:srgbClr val="FFFFFF"/>
          </a:solidFill>
          <a:ln>
            <a:solidFill>
              <a:srgbClr val="B4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928616" y="4617720"/>
            <a:ext cx="32918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5B6C7B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276088" y="4572000"/>
            <a:ext cx="329184" cy="292608"/>
          </a:xfrm>
          <a:prstGeom prst="rect">
            <a:avLst/>
          </a:prstGeom>
          <a:solidFill>
            <a:srgbClr val="FFFFFF"/>
          </a:solidFill>
          <a:ln>
            <a:solidFill>
              <a:srgbClr val="B4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276088" y="4617720"/>
            <a:ext cx="32918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5B6C7B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886200" y="4882896"/>
            <a:ext cx="329184" cy="292608"/>
          </a:xfrm>
          <a:prstGeom prst="rect">
            <a:avLst/>
          </a:prstGeom>
          <a:solidFill>
            <a:srgbClr val="FFFFFF"/>
          </a:solidFill>
          <a:ln>
            <a:solidFill>
              <a:srgbClr val="B4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886200" y="4928616"/>
            <a:ext cx="32918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5B6C7B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233672" y="4882896"/>
            <a:ext cx="329184" cy="292608"/>
          </a:xfrm>
          <a:prstGeom prst="rect">
            <a:avLst/>
          </a:prstGeom>
          <a:solidFill>
            <a:srgbClr val="3491BE"/>
          </a:solidFill>
          <a:ln>
            <a:solidFill>
              <a:srgbClr val="B4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233672" y="4928616"/>
            <a:ext cx="32918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81144" y="4882896"/>
            <a:ext cx="329184" cy="292608"/>
          </a:xfrm>
          <a:prstGeom prst="rect">
            <a:avLst/>
          </a:prstGeom>
          <a:solidFill>
            <a:srgbClr val="3491BE"/>
          </a:solidFill>
          <a:ln>
            <a:solidFill>
              <a:srgbClr val="B4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581144" y="4928616"/>
            <a:ext cx="32918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928616" y="4882896"/>
            <a:ext cx="329184" cy="292608"/>
          </a:xfrm>
          <a:prstGeom prst="rect">
            <a:avLst/>
          </a:prstGeom>
          <a:solidFill>
            <a:srgbClr val="3491BE"/>
          </a:solidFill>
          <a:ln>
            <a:solidFill>
              <a:srgbClr val="B4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928616" y="4928616"/>
            <a:ext cx="32918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276088" y="4882896"/>
            <a:ext cx="329184" cy="292608"/>
          </a:xfrm>
          <a:prstGeom prst="rect">
            <a:avLst/>
          </a:prstGeom>
          <a:solidFill>
            <a:srgbClr val="FFFFFF"/>
          </a:solidFill>
          <a:ln>
            <a:solidFill>
              <a:srgbClr val="B4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276088" y="4928616"/>
            <a:ext cx="32918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5B6C7B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886200" y="5193792"/>
            <a:ext cx="329184" cy="292608"/>
          </a:xfrm>
          <a:prstGeom prst="rect">
            <a:avLst/>
          </a:prstGeom>
          <a:solidFill>
            <a:srgbClr val="FFFFFF"/>
          </a:solidFill>
          <a:ln>
            <a:solidFill>
              <a:srgbClr val="B4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886200" y="5239512"/>
            <a:ext cx="32918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5B6C7B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233672" y="5193792"/>
            <a:ext cx="329184" cy="292608"/>
          </a:xfrm>
          <a:prstGeom prst="rect">
            <a:avLst/>
          </a:prstGeom>
          <a:solidFill>
            <a:srgbClr val="3491BE"/>
          </a:solidFill>
          <a:ln>
            <a:solidFill>
              <a:srgbClr val="B4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233672" y="5239512"/>
            <a:ext cx="32918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581144" y="5193792"/>
            <a:ext cx="329184" cy="292608"/>
          </a:xfrm>
          <a:prstGeom prst="rect">
            <a:avLst/>
          </a:prstGeom>
          <a:solidFill>
            <a:srgbClr val="3491BE"/>
          </a:solidFill>
          <a:ln>
            <a:solidFill>
              <a:srgbClr val="B4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581144" y="5239512"/>
            <a:ext cx="32918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928616" y="5193792"/>
            <a:ext cx="329184" cy="292608"/>
          </a:xfrm>
          <a:prstGeom prst="rect">
            <a:avLst/>
          </a:prstGeom>
          <a:solidFill>
            <a:srgbClr val="3491BE"/>
          </a:solidFill>
          <a:ln>
            <a:solidFill>
              <a:srgbClr val="B4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928616" y="5239512"/>
            <a:ext cx="32918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276088" y="5193792"/>
            <a:ext cx="329184" cy="292608"/>
          </a:xfrm>
          <a:prstGeom prst="rect">
            <a:avLst/>
          </a:prstGeom>
          <a:solidFill>
            <a:srgbClr val="3491BE"/>
          </a:solidFill>
          <a:ln>
            <a:solidFill>
              <a:srgbClr val="B4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276088" y="5239512"/>
            <a:ext cx="32918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886200" y="5504688"/>
            <a:ext cx="329184" cy="292608"/>
          </a:xfrm>
          <a:prstGeom prst="rect">
            <a:avLst/>
          </a:prstGeom>
          <a:solidFill>
            <a:srgbClr val="FFFFFF"/>
          </a:solidFill>
          <a:ln>
            <a:solidFill>
              <a:srgbClr val="B4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886200" y="5550407"/>
            <a:ext cx="32918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5B6C7B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233672" y="5504688"/>
            <a:ext cx="329184" cy="292608"/>
          </a:xfrm>
          <a:prstGeom prst="rect">
            <a:avLst/>
          </a:prstGeom>
          <a:solidFill>
            <a:srgbClr val="FFFFFF"/>
          </a:solidFill>
          <a:ln>
            <a:solidFill>
              <a:srgbClr val="B4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233672" y="5550407"/>
            <a:ext cx="32918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5B6C7B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581144" y="5504688"/>
            <a:ext cx="329184" cy="292608"/>
          </a:xfrm>
          <a:prstGeom prst="rect">
            <a:avLst/>
          </a:prstGeom>
          <a:solidFill>
            <a:srgbClr val="3491BE"/>
          </a:solidFill>
          <a:ln>
            <a:solidFill>
              <a:srgbClr val="B4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581144" y="5550407"/>
            <a:ext cx="32918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928616" y="5504688"/>
            <a:ext cx="329184" cy="292608"/>
          </a:xfrm>
          <a:prstGeom prst="rect">
            <a:avLst/>
          </a:prstGeom>
          <a:solidFill>
            <a:srgbClr val="FFFFFF"/>
          </a:solidFill>
          <a:ln>
            <a:solidFill>
              <a:srgbClr val="B4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928616" y="5550407"/>
            <a:ext cx="32918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5B6C7B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276088" y="5504688"/>
            <a:ext cx="329184" cy="292608"/>
          </a:xfrm>
          <a:prstGeom prst="rect">
            <a:avLst/>
          </a:prstGeom>
          <a:solidFill>
            <a:srgbClr val="FFFFFF"/>
          </a:solidFill>
          <a:ln>
            <a:solidFill>
              <a:srgbClr val="B4C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276088" y="5550407"/>
            <a:ext cx="32918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5B6C7B"/>
                </a:solidFill>
                <a:latin typeface="Aptos"/>
              </a:defRPr>
            </a:pPr>
            <a:r>
              <a:t>0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5989320" y="5074920"/>
            <a:ext cx="411480" cy="0"/>
          </a:xfrm>
          <a:prstGeom prst="line">
            <a:avLst/>
          </a:prstGeom>
          <a:ln w="27940">
            <a:solidFill>
              <a:srgbClr val="2491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Rounded Rectangle 104"/>
          <p:cNvSpPr/>
          <p:nvPr/>
        </p:nvSpPr>
        <p:spPr>
          <a:xfrm>
            <a:off x="7242048" y="3611880"/>
            <a:ext cx="4443984" cy="2423160"/>
          </a:xfrm>
          <a:prstGeom prst="roundRect">
            <a:avLst/>
          </a:prstGeom>
          <a:solidFill>
            <a:srgbClr val="F9FCFC"/>
          </a:solidFill>
          <a:ln w="15240"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7406640" y="3721608"/>
            <a:ext cx="4114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E2A4B"/>
                </a:solidFill>
                <a:latin typeface="Aptos"/>
              </a:defRPr>
            </a:pPr>
            <a:r>
              <a:t>Newly Flooded Pixel Rule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562088" y="4187952"/>
            <a:ext cx="3794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249189"/>
                </a:solidFill>
                <a:latin typeface="Aptos"/>
              </a:defRPr>
            </a:pPr>
            <a:r>
              <a:t>Pre = 0   AND   Post = 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571231" y="4700016"/>
            <a:ext cx="37673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E2A4B"/>
                </a:solidFill>
                <a:latin typeface="Aptos"/>
              </a:defRPr>
            </a:pPr>
            <a:r>
              <a:t>→ mark pixel as NEWLY FLOODED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726679" y="5193792"/>
            <a:ext cx="342900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0">
                <a:solidFill>
                  <a:srgbClr val="5B6C7B"/>
                </a:solidFill>
                <a:latin typeface="Aptos"/>
              </a:defRPr>
            </a:pPr>
            <a:r>
              <a:t>Then count flooded pixels and convert the count into area, percentage and severity.</a:t>
            </a:r>
          </a:p>
        </p:txBody>
      </p:sp>
      <p:sp>
        <p:nvSpPr>
          <p:cNvPr id="110" name="Oval 109"/>
          <p:cNvSpPr/>
          <p:nvPr/>
        </p:nvSpPr>
        <p:spPr>
          <a:xfrm>
            <a:off x="11109960" y="137160"/>
            <a:ext cx="155448" cy="155448"/>
          </a:xfrm>
          <a:prstGeom prst="ellipse">
            <a:avLst/>
          </a:prstGeom>
          <a:solidFill>
            <a:srgbClr val="2C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11356848" y="137160"/>
            <a:ext cx="155448" cy="155448"/>
          </a:xfrm>
          <a:prstGeom prst="ellipse">
            <a:avLst/>
          </a:prstGeom>
          <a:solidFill>
            <a:srgbClr val="50B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11603736" y="137160"/>
            <a:ext cx="155448" cy="155448"/>
          </a:xfrm>
          <a:prstGeom prst="ellipse">
            <a:avLst/>
          </a:prstGeom>
          <a:solidFill>
            <a:srgbClr val="377D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3" name="Picture 112" descr="ndvi_ndwi_graph_r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804672"/>
            <a:ext cx="3794760" cy="2057400"/>
          </a:xfrm>
          <a:prstGeom prst="rect">
            <a:avLst/>
          </a:prstGeom>
        </p:spPr>
      </p:pic>
      <p:sp>
        <p:nvSpPr>
          <p:cNvPr id="114" name="TextBox 113"/>
          <p:cNvSpPr txBox="1"/>
          <p:nvPr/>
        </p:nvSpPr>
        <p:spPr>
          <a:xfrm>
            <a:off x="7818120" y="2788920"/>
            <a:ext cx="3794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670AB"/>
                </a:solidFill>
              </a:defRPr>
            </a:pPr>
            <a:r>
              <a:t>NDVI / NDWI spectral signature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E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Algorithms to be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155448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FE2EF"/>
                </a:solidFill>
                <a:latin typeface="Aptos"/>
              </a:defRPr>
            </a:pPr>
            <a:r>
              <a:t>Selected from the proposal + flood-region detection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"/>
            <a:ext cx="12191695" cy="50292"/>
          </a:xfrm>
          <a:prstGeom prst="rect">
            <a:avLst/>
          </a:prstGeom>
          <a:solidFill>
            <a:srgbClr val="1C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024128"/>
            <a:ext cx="5468112" cy="941832"/>
          </a:xfrm>
          <a:prstGeom prst="roundRect">
            <a:avLst/>
          </a:prstGeom>
          <a:solidFill>
            <a:srgbClr val="FFFFFF"/>
          </a:solidFill>
          <a:ln>
            <a:solidFill>
              <a:srgbClr val="CA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0936" y="1170432"/>
            <a:ext cx="530352" cy="621792"/>
          </a:xfrm>
          <a:prstGeom prst="roundRect">
            <a:avLst/>
          </a:prstGeom>
          <a:solidFill>
            <a:srgbClr val="1C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1353312"/>
            <a:ext cx="53035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400" b="1"/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07592" y="1152144"/>
            <a:ext cx="45079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E2A4B"/>
                </a:solidFill>
                <a:latin typeface="Aptos"/>
              </a:defRPr>
            </a:pPr>
            <a:r>
              <a:t>Image File Handling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7592" y="1463040"/>
            <a:ext cx="45079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40" b="0">
                <a:solidFill>
                  <a:srgbClr val="5B6C7B"/>
                </a:solidFill>
                <a:latin typeface="Aptos"/>
              </a:defRPr>
            </a:pPr>
            <a:r>
              <a:t>Read / write image data (BMP / PGM / RAW).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167128"/>
            <a:ext cx="5468112" cy="941832"/>
          </a:xfrm>
          <a:prstGeom prst="roundRect">
            <a:avLst/>
          </a:prstGeom>
          <a:solidFill>
            <a:srgbClr val="FFFFFF"/>
          </a:solidFill>
          <a:ln>
            <a:solidFill>
              <a:srgbClr val="CA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6" y="2313432"/>
            <a:ext cx="530352" cy="621792"/>
          </a:xfrm>
          <a:prstGeom prst="roundRect">
            <a:avLst/>
          </a:prstGeom>
          <a:solidFill>
            <a:srgbClr val="1C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" y="2496312"/>
            <a:ext cx="53035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400" b="1"/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07592" y="2295144"/>
            <a:ext cx="45079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E2A4B"/>
                </a:solidFill>
                <a:latin typeface="Aptos"/>
              </a:defRPr>
            </a:pPr>
            <a:r>
              <a:t>Thresholding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7592" y="2606040"/>
            <a:ext cx="45079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40" b="0">
                <a:solidFill>
                  <a:srgbClr val="5B6C7B"/>
                </a:solidFill>
                <a:latin typeface="Aptos"/>
              </a:defRPr>
            </a:pPr>
            <a:r>
              <a:t>Classify water vs. non-water pixels.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310128"/>
            <a:ext cx="5468112" cy="941832"/>
          </a:xfrm>
          <a:prstGeom prst="roundRect">
            <a:avLst/>
          </a:prstGeom>
          <a:solidFill>
            <a:srgbClr val="FFFFFF"/>
          </a:solidFill>
          <a:ln>
            <a:solidFill>
              <a:srgbClr val="CA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0936" y="3456432"/>
            <a:ext cx="530352" cy="621792"/>
          </a:xfrm>
          <a:prstGeom prst="roundRect">
            <a:avLst/>
          </a:prstGeom>
          <a:solidFill>
            <a:srgbClr val="1C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" y="3639312"/>
            <a:ext cx="53035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400" b="1"/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07592" y="3438144"/>
            <a:ext cx="45079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E2A4B"/>
                </a:solidFill>
                <a:latin typeface="Aptos"/>
              </a:defRPr>
            </a:pPr>
            <a:r>
              <a:t>NDVI &amp; NDWI Calculation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7592" y="3749039"/>
            <a:ext cx="45079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40" b="0">
                <a:solidFill>
                  <a:srgbClr val="5B6C7B"/>
                </a:solidFill>
                <a:latin typeface="Aptos"/>
              </a:defRPr>
            </a:pPr>
            <a:r>
              <a:t>Compute spectral indices from band values.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453128"/>
            <a:ext cx="5468112" cy="941832"/>
          </a:xfrm>
          <a:prstGeom prst="roundRect">
            <a:avLst/>
          </a:prstGeom>
          <a:solidFill>
            <a:srgbClr val="FFFFFF"/>
          </a:solidFill>
          <a:ln>
            <a:solidFill>
              <a:srgbClr val="CA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0936" y="4599432"/>
            <a:ext cx="530352" cy="621792"/>
          </a:xfrm>
          <a:prstGeom prst="roundRect">
            <a:avLst/>
          </a:prstGeom>
          <a:solidFill>
            <a:srgbClr val="1C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" y="4782312"/>
            <a:ext cx="53035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400" b="1"/>
            </a:pPr>
            <a: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07592" y="4581144"/>
            <a:ext cx="45079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E2A4B"/>
                </a:solidFill>
                <a:latin typeface="Aptos"/>
              </a:defRPr>
            </a:pPr>
            <a:r>
              <a:t>Multi-temporal Comparison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07592" y="4892040"/>
            <a:ext cx="45079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40" b="0">
                <a:solidFill>
                  <a:srgbClr val="5B6C7B"/>
                </a:solidFill>
                <a:latin typeface="Aptos"/>
              </a:defRPr>
            </a:pPr>
            <a:r>
              <a:t>Compare pre- and post-flood index / water maps.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9632" y="1024128"/>
            <a:ext cx="5468112" cy="941832"/>
          </a:xfrm>
          <a:prstGeom prst="roundRect">
            <a:avLst/>
          </a:prstGeom>
          <a:solidFill>
            <a:srgbClr val="FFFFFF"/>
          </a:solidFill>
          <a:ln>
            <a:solidFill>
              <a:srgbClr val="CA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27648" y="1170432"/>
            <a:ext cx="530352" cy="621792"/>
          </a:xfrm>
          <a:prstGeom prst="roundRect">
            <a:avLst/>
          </a:prstGeom>
          <a:solidFill>
            <a:srgbClr val="1C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27648" y="1353312"/>
            <a:ext cx="53035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400" b="1"/>
            </a:pPr>
            <a: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04304" y="1152144"/>
            <a:ext cx="45079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E2A4B"/>
                </a:solidFill>
                <a:latin typeface="Aptos"/>
              </a:defRPr>
            </a:pPr>
            <a:r>
              <a:t>Region Labeling / Connected Components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04304" y="1463040"/>
            <a:ext cx="45079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40" b="0">
                <a:solidFill>
                  <a:srgbClr val="5B6C7B"/>
                </a:solidFill>
                <a:latin typeface="Aptos"/>
              </a:defRPr>
            </a:pPr>
            <a:r>
              <a:t>Identify separate flood regions.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99632" y="2167128"/>
            <a:ext cx="5468112" cy="941832"/>
          </a:xfrm>
          <a:prstGeom prst="roundRect">
            <a:avLst/>
          </a:prstGeom>
          <a:solidFill>
            <a:srgbClr val="FFFFFF"/>
          </a:solidFill>
          <a:ln>
            <a:solidFill>
              <a:srgbClr val="CA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327648" y="2313432"/>
            <a:ext cx="530352" cy="621792"/>
          </a:xfrm>
          <a:prstGeom prst="roundRect">
            <a:avLst/>
          </a:prstGeom>
          <a:solidFill>
            <a:srgbClr val="1C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27648" y="2496312"/>
            <a:ext cx="53035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400" b="1"/>
            </a:pPr>
            <a: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04304" y="2295144"/>
            <a:ext cx="45079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E2A4B"/>
                </a:solidFill>
                <a:latin typeface="Aptos"/>
              </a:defRPr>
            </a:pPr>
            <a:r>
              <a:t>Flood Area Calculation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04304" y="2606040"/>
            <a:ext cx="45079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40" b="0">
                <a:solidFill>
                  <a:srgbClr val="5B6C7B"/>
                </a:solidFill>
                <a:latin typeface="Aptos"/>
              </a:defRPr>
            </a:pPr>
            <a:r>
              <a:t>Count flood pixels and convert to km².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99632" y="3310128"/>
            <a:ext cx="5468112" cy="941832"/>
          </a:xfrm>
          <a:prstGeom prst="roundRect">
            <a:avLst/>
          </a:prstGeom>
          <a:solidFill>
            <a:srgbClr val="FFFFFF"/>
          </a:solidFill>
          <a:ln>
            <a:solidFill>
              <a:srgbClr val="CA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327648" y="3456432"/>
            <a:ext cx="530352" cy="621792"/>
          </a:xfrm>
          <a:prstGeom prst="roundRect">
            <a:avLst/>
          </a:prstGeom>
          <a:solidFill>
            <a:srgbClr val="1C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27648" y="3639312"/>
            <a:ext cx="53035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400" b="1"/>
            </a:pPr>
            <a: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04304" y="3438144"/>
            <a:ext cx="45079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E2A4B"/>
                </a:solidFill>
                <a:latin typeface="Aptos"/>
              </a:defRPr>
            </a:pPr>
            <a:r>
              <a:t>Pixel-wise Difference / Change Detection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04304" y="3749039"/>
            <a:ext cx="45079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40" b="0">
                <a:solidFill>
                  <a:srgbClr val="5B6C7B"/>
                </a:solidFill>
                <a:latin typeface="Aptos"/>
              </a:defRPr>
            </a:pPr>
            <a:r>
              <a:t>Measure pre vs. post changes.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99632" y="4453128"/>
            <a:ext cx="5468112" cy="941832"/>
          </a:xfrm>
          <a:prstGeom prst="roundRect">
            <a:avLst/>
          </a:prstGeom>
          <a:solidFill>
            <a:srgbClr val="FFFFFF"/>
          </a:solidFill>
          <a:ln>
            <a:solidFill>
              <a:srgbClr val="CA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327648" y="4599432"/>
            <a:ext cx="530352" cy="621792"/>
          </a:xfrm>
          <a:prstGeom prst="roundRect">
            <a:avLst/>
          </a:prstGeom>
          <a:solidFill>
            <a:srgbClr val="24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27648" y="4782312"/>
            <a:ext cx="53035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04304" y="4581144"/>
            <a:ext cx="45079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E2A4B"/>
                </a:solidFill>
                <a:latin typeface="Aptos"/>
              </a:defRPr>
            </a:pPr>
            <a:r>
              <a:t>BFS / DFS Flood Region Detection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04304" y="4892040"/>
            <a:ext cx="45079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40" b="0">
                <a:solidFill>
                  <a:srgbClr val="5B6C7B"/>
                </a:solidFill>
                <a:latin typeface="Aptos"/>
              </a:defRPr>
            </a:pPr>
            <a:r>
              <a:t>Traverse connected flooded pixels and extract regions.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2920" y="5715000"/>
            <a:ext cx="11164824" cy="566928"/>
          </a:xfrm>
          <a:prstGeom prst="roundRect">
            <a:avLst/>
          </a:prstGeom>
          <a:solidFill>
            <a:srgbClr val="E8F4F7"/>
          </a:solidFill>
          <a:ln>
            <a:solidFill>
              <a:srgbClr val="BCD9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9808" y="5852160"/>
            <a:ext cx="10652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E2A4B"/>
                </a:solidFill>
                <a:latin typeface="Aptos"/>
              </a:defRPr>
            </a:pPr>
            <a:r>
              <a:t>Design focus: keep the algorithms directly connected to the pixel → water map → region → area pipeline.</a:t>
            </a:r>
          </a:p>
        </p:txBody>
      </p:sp>
      <p:sp>
        <p:nvSpPr>
          <p:cNvPr id="49" name="Oval 48"/>
          <p:cNvSpPr/>
          <p:nvPr/>
        </p:nvSpPr>
        <p:spPr>
          <a:xfrm>
            <a:off x="11109960" y="137160"/>
            <a:ext cx="155448" cy="155448"/>
          </a:xfrm>
          <a:prstGeom prst="ellipse">
            <a:avLst/>
          </a:prstGeom>
          <a:solidFill>
            <a:srgbClr val="2C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1356848" y="137160"/>
            <a:ext cx="155448" cy="155448"/>
          </a:xfrm>
          <a:prstGeom prst="ellipse">
            <a:avLst/>
          </a:prstGeom>
          <a:solidFill>
            <a:srgbClr val="50B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603736" y="137160"/>
            <a:ext cx="155448" cy="155448"/>
          </a:xfrm>
          <a:prstGeom prst="ellipse">
            <a:avLst/>
          </a:prstGeom>
          <a:solidFill>
            <a:srgbClr val="377D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E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Tools, Technologies &amp;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155448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FE2EF"/>
                </a:solidFill>
                <a:latin typeface="Aptos"/>
              </a:defRPr>
            </a:pPr>
            <a:r>
              <a:t>Development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"/>
            <a:ext cx="12191695" cy="50292"/>
          </a:xfrm>
          <a:prstGeom prst="rect">
            <a:avLst/>
          </a:prstGeom>
          <a:solidFill>
            <a:srgbClr val="33B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024128"/>
            <a:ext cx="3429000" cy="12618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133856"/>
            <a:ext cx="309981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E2A4B"/>
                </a:solidFill>
                <a:latin typeface="Aptos"/>
              </a:defRPr>
            </a:pPr>
            <a:r>
              <a:t>Programming 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508760"/>
            <a:ext cx="3099816" cy="6675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1E2A37"/>
                </a:solidFill>
                <a:latin typeface="Aptos"/>
              </a:defRPr>
            </a:pPr>
            <a:r>
              <a:t>C</a:t>
            </a:r>
            <a:br/>
            <a:r>
              <a:t>Approx. 4,000 lines of code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024128"/>
            <a:ext cx="3429000" cy="12618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5112" y="1133856"/>
            <a:ext cx="309981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E2A4B"/>
                </a:solidFill>
                <a:latin typeface="Aptos"/>
              </a:defRPr>
            </a:pPr>
            <a:r>
              <a:t>IDE / Compiler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5112" y="1508760"/>
            <a:ext cx="3099816" cy="6675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1E2A37"/>
                </a:solidFill>
                <a:latin typeface="Aptos"/>
              </a:defRPr>
            </a:pPr>
            <a:r>
              <a:t>VS Code + GCC</a:t>
            </a:r>
            <a:br/>
            <a:r>
              <a:t>or Code::Blocks + GCC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1024128"/>
            <a:ext cx="3858768" cy="12618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82712" y="1133856"/>
            <a:ext cx="35295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E2A4B"/>
                </a:solidFill>
                <a:latin typeface="Aptos"/>
              </a:defRPr>
            </a:pPr>
            <a:r>
              <a:t>Image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82712" y="1508760"/>
            <a:ext cx="3529584" cy="6675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1E2A37"/>
                </a:solidFill>
                <a:latin typeface="Aptos"/>
              </a:defRPr>
            </a:pPr>
            <a:r>
              <a:t>BMP / PGM / RAW</a:t>
            </a:r>
            <a:br/>
            <a:r>
              <a:t>Multi-band or separate-band inputs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542032"/>
            <a:ext cx="3429000" cy="12618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2651760"/>
            <a:ext cx="309981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E2A4B"/>
                </a:solidFill>
                <a:latin typeface="Aptos"/>
              </a:defRPr>
            </a:pPr>
            <a:r>
              <a:t>Data Source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" y="3026663"/>
            <a:ext cx="3099816" cy="6675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1E2A37"/>
                </a:solidFill>
                <a:latin typeface="Aptos"/>
              </a:defRPr>
            </a:pPr>
            <a:r>
              <a:t>Landsat / Sentinel</a:t>
            </a:r>
            <a:br/>
            <a:r>
              <a:t>Red, Green, Blue, NIR bands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0520" y="2542032"/>
            <a:ext cx="3429000" cy="12618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25112" y="2651760"/>
            <a:ext cx="309981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E2A4B"/>
                </a:solidFill>
                <a:latin typeface="Aptos"/>
              </a:defRPr>
            </a:pPr>
            <a:r>
              <a:t>Core Data Structure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5112" y="3026663"/>
            <a:ext cx="3099816" cy="6675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1E2A37"/>
                </a:solidFill>
                <a:latin typeface="Aptos"/>
              </a:defRPr>
            </a:pPr>
            <a:r>
              <a:t>2D matrices / arrays</a:t>
            </a:r>
            <a:br/>
            <a:r>
              <a:t>for per-pixel band values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18120" y="2542032"/>
            <a:ext cx="3858768" cy="12618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82712" y="2651760"/>
            <a:ext cx="35295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E2A4B"/>
                </a:solidFill>
                <a:latin typeface="Aptos"/>
              </a:defRPr>
            </a:pPr>
            <a:r>
              <a:t>Implementation Style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82712" y="3026663"/>
            <a:ext cx="3529584" cy="6675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1E2A37"/>
                </a:solidFill>
                <a:latin typeface="Aptos"/>
              </a:defRPr>
            </a:pPr>
            <a:r>
              <a:t>Modular C functions</a:t>
            </a:r>
            <a:br/>
            <a:r>
              <a:t>Clear comments + test cases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133087"/>
            <a:ext cx="11173968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" y="4242816"/>
            <a:ext cx="1084478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E2A4B"/>
                </a:solidFill>
                <a:latin typeface="Aptos"/>
              </a:defRPr>
            </a:pPr>
            <a:r>
              <a:t>Implementation Breakdown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4709160"/>
            <a:ext cx="2011680" cy="749808"/>
          </a:xfrm>
          <a:prstGeom prst="roundRect">
            <a:avLst/>
          </a:prstGeom>
          <a:solidFill>
            <a:srgbClr val="1C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" y="4828032"/>
            <a:ext cx="186537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Input &amp; I/O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" y="5111496"/>
            <a:ext cx="186537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FFFFFF"/>
                </a:solidFill>
                <a:latin typeface="Aptos"/>
              </a:defRPr>
            </a:pPr>
            <a:r>
              <a:t>15%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71800" y="4709160"/>
            <a:ext cx="2011680" cy="749808"/>
          </a:xfrm>
          <a:prstGeom prst="roundRect">
            <a:avLst/>
          </a:prstGeom>
          <a:solidFill>
            <a:srgbClr val="249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44952" y="4828032"/>
            <a:ext cx="186537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Band + Index Processing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44952" y="5111496"/>
            <a:ext cx="186537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FFFFFF"/>
                </a:solidFill>
                <a:latin typeface="Aptos"/>
              </a:defRPr>
            </a:pPr>
            <a:r>
              <a:t>25%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120640" y="4709160"/>
            <a:ext cx="2011680" cy="749808"/>
          </a:xfrm>
          <a:prstGeom prst="roundRect">
            <a:avLst/>
          </a:prstGeom>
          <a:solidFill>
            <a:srgbClr val="EFB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93792" y="4828032"/>
            <a:ext cx="186537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Threshold + Comparison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93792" y="5111496"/>
            <a:ext cx="186537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FFFFFF"/>
                </a:solidFill>
                <a:latin typeface="Aptos"/>
              </a:defRPr>
            </a:pPr>
            <a:r>
              <a:t>20%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69479" y="4709160"/>
            <a:ext cx="2011680" cy="749808"/>
          </a:xfrm>
          <a:prstGeom prst="roundRect">
            <a:avLst/>
          </a:prstGeom>
          <a:solidFill>
            <a:srgbClr val="33B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42631" y="4828032"/>
            <a:ext cx="186537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Flood Regions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42631" y="5111496"/>
            <a:ext cx="186537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FFFFFF"/>
                </a:solidFill>
                <a:latin typeface="Aptos"/>
              </a:defRPr>
            </a:pPr>
            <a:r>
              <a:t>20%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418319" y="4709160"/>
            <a:ext cx="2011680" cy="749808"/>
          </a:xfrm>
          <a:prstGeom prst="roundRect">
            <a:avLst/>
          </a:prstGeom>
          <a:solidFill>
            <a:srgbClr val="469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91472" y="4828032"/>
            <a:ext cx="186537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Area + Severity + Output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91472" y="5111496"/>
            <a:ext cx="186537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FFFFFF"/>
                </a:solidFill>
                <a:latin typeface="Aptos"/>
              </a:defRPr>
            </a:pPr>
            <a:r>
              <a:t>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6199632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0">
                <a:solidFill>
                  <a:srgbClr val="5B6C7B"/>
                </a:solidFill>
                <a:latin typeface="Aptos"/>
              </a:defRPr>
            </a:pPr>
            <a:r>
              <a:t>Target: a complete, modular C implementation that produces both visual and numerical flood results.</a:t>
            </a:r>
          </a:p>
        </p:txBody>
      </p:sp>
      <p:sp>
        <p:nvSpPr>
          <p:cNvPr id="43" name="Oval 42"/>
          <p:cNvSpPr/>
          <p:nvPr/>
        </p:nvSpPr>
        <p:spPr>
          <a:xfrm>
            <a:off x="11109960" y="137160"/>
            <a:ext cx="155448" cy="155448"/>
          </a:xfrm>
          <a:prstGeom prst="ellipse">
            <a:avLst/>
          </a:prstGeom>
          <a:solidFill>
            <a:srgbClr val="2CA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1356848" y="137160"/>
            <a:ext cx="155448" cy="155448"/>
          </a:xfrm>
          <a:prstGeom prst="ellipse">
            <a:avLst/>
          </a:prstGeom>
          <a:solidFill>
            <a:srgbClr val="50B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603736" y="137160"/>
            <a:ext cx="155448" cy="155448"/>
          </a:xfrm>
          <a:prstGeom prst="ellipse">
            <a:avLst/>
          </a:prstGeom>
          <a:solidFill>
            <a:srgbClr val="377D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000">
                <a:solidFill>
                  <a:srgbClr val="FFFFFF"/>
                </a:solidFill>
              </a:defRPr>
            </a:pPr>
            <a:r>
              <a:t>Before Flood vs After Flood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45BEE0"/>
                </a:solidFill>
              </a:defRPr>
            </a:pPr>
            <a:r>
              <a:t>Multi-temporal satellite imagery used for flood detection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08760"/>
            <a:ext cx="5440680" cy="4251960"/>
          </a:xfrm>
          <a:prstGeom prst="roundRect">
            <a:avLst/>
          </a:prstGeom>
          <a:solidFill>
            <a:srgbClr val="113352"/>
          </a:solidFill>
          <a:ln>
            <a:solidFill>
              <a:srgbClr val="437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63640" y="1508760"/>
            <a:ext cx="5440680" cy="4251960"/>
          </a:xfrm>
          <a:prstGeom prst="roundRect">
            <a:avLst/>
          </a:prstGeom>
          <a:solidFill>
            <a:srgbClr val="113352"/>
          </a:solidFill>
          <a:ln>
            <a:solidFill>
              <a:srgbClr val="437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re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783080"/>
            <a:ext cx="4937760" cy="3337560"/>
          </a:xfrm>
          <a:prstGeom prst="rect">
            <a:avLst/>
          </a:prstGeom>
        </p:spPr>
      </p:pic>
      <p:pic>
        <p:nvPicPr>
          <p:cNvPr id="8" name="Picture 7" descr="post_phot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1783080"/>
            <a:ext cx="4937760" cy="3337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5285232"/>
            <a:ext cx="5440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>
                <a:solidFill>
                  <a:srgbClr val="FFFFFF"/>
                </a:solidFill>
              </a:defRPr>
            </a:pPr>
            <a:r>
              <a:t>BEFORE FLOOD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5285232"/>
            <a:ext cx="5440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>
                <a:solidFill>
                  <a:srgbClr val="FFFFFF"/>
                </a:solidFill>
              </a:defRPr>
            </a:pPr>
            <a:r>
              <a:t>AFTER FLOOD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59552" y="3154680"/>
            <a:ext cx="1051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600">
                <a:solidFill>
                  <a:srgbClr val="45BEE0"/>
                </a:solidFill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6172200"/>
            <a:ext cx="4160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DCEFF7"/>
                </a:solidFill>
              </a:defRPr>
            </a:pPr>
            <a:r>
              <a:t>Before → After → Change Detection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